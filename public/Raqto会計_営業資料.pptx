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60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6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73152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527120"/>
          </a:solidFill>
          <a:ln/>
          <a:effectLst>
            <a:outerShdw blurRad="152400" dist="50800" dir="16200000" algn="bl" rotWithShape="0">
              <a:srgbClr val="527120">
                <a:alpha val="4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394960" y="685799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-127" y="2148841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Raqto会計（AIバージョン）</a:t>
            </a:r>
            <a:endParaRPr lang="en-US" sz="4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080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AI × 税理士事務所</a:t>
            </a:r>
            <a:endParaRPr lang="en-US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4023360"/>
            <a:ext cx="3959352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286000" y="4297680"/>
            <a:ext cx="7616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レシート撮影から仕訳完了まで、AIが自動化。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税理士事務所の業務効率を根本から変える次世代クラウド会計</a:t>
            </a:r>
            <a:r>
              <a:rPr lang="en-US" sz="1400" dirty="0">
                <a:solidFill>
                  <a:srgbClr val="88888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。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99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  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税理士事務所が抱える</a:t>
            </a:r>
            <a:r>
              <a:rPr lang="en-US" sz="3200" b="1" dirty="0">
                <a:solidFill>
                  <a:srgbClr val="6C99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3つの課題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手入力の膨大な工数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latin typeface="Meiryo" pitchFamily="34" charset="0"/>
                <a:ea typeface="Meiryo" pitchFamily="34" charset="-122"/>
                <a:cs typeface="Meiryo" pitchFamily="34" charset="-120"/>
              </a:rPr>
              <a:t>領収書・請求書を1枚ずつ確認し、勘定科目を判断して手入力。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latin typeface="Meiryo" pitchFamily="34" charset="0"/>
                <a:ea typeface="Meiryo" pitchFamily="34" charset="-122"/>
                <a:cs typeface="Meiryo" pitchFamily="34" charset="-120"/>
              </a:rPr>
              <a:t>顧問先が増えるほど、スタッフの残業時間が増えていく。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顧問先とのやりとりが煩雑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latin typeface="Meiryo" pitchFamily="34" charset="0"/>
                <a:ea typeface="Meiryo" pitchFamily="34" charset="-122"/>
                <a:cs typeface="Meiryo" pitchFamily="34" charset="-120"/>
              </a:rPr>
              <a:t>「領収書まだですか？」「この取引は何ですか？」──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latin typeface="Meiryo" pitchFamily="34" charset="0"/>
                <a:ea typeface="Meiryo" pitchFamily="34" charset="-122"/>
                <a:cs typeface="Meiryo" pitchFamily="34" charset="-120"/>
              </a:rPr>
              <a:t>メール・電話・FAXが入り乱れ、確認漏れが発生。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5029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インボイス制度への対応負荷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4937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latin typeface="Meiryo" pitchFamily="34" charset="0"/>
                <a:ea typeface="Meiryo" pitchFamily="34" charset="-122"/>
                <a:cs typeface="Meiryo" pitchFamily="34" charset="-120"/>
              </a:rPr>
              <a:t>適格請求書の登録番号確認、経過措置の税率管理──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latin typeface="Meiryo" pitchFamily="34" charset="0"/>
                <a:ea typeface="Meiryo" pitchFamily="34" charset="-122"/>
                <a:cs typeface="Meiryo" pitchFamily="34" charset="-120"/>
              </a:rPr>
              <a:t>制度対応だけで膨大な確認作業が発生している。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F2C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ソリューション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127" y="100584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Raqto会計なら、すべて解決</a:t>
            </a:r>
            <a:endParaRPr lang="en-US" sz="3600" dirty="0">
              <a:solidFill>
                <a:schemeClr val="accent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828800" y="182880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latin typeface="Meiryo" pitchFamily="34" charset="0"/>
                <a:ea typeface="Meiryo" pitchFamily="34" charset="-122"/>
                <a:cs typeface="Meiryo" pitchFamily="34" charset="-120"/>
              </a:rPr>
              <a:t>AIが領収書を自動で読み取り、仕訳まで提案。</a:t>
            </a:r>
            <a:endParaRPr lang="en-U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latin typeface="Meiryo" pitchFamily="34" charset="0"/>
                <a:ea typeface="Meiryo" pitchFamily="34" charset="-122"/>
                <a:cs typeface="Meiryo" pitchFamily="34" charset="-120"/>
              </a:rPr>
              <a:t>顧問先はスマホで撮影するだけ。税理士はワンクリックで承認。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2286000" cy="2194560"/>
          </a:xfrm>
          <a:prstGeom prst="roundRect">
            <a:avLst>
              <a:gd name="adj" fmla="val 6250"/>
            </a:avLst>
          </a:prstGeom>
          <a:solidFill>
            <a:srgbClr val="5F8320"/>
          </a:solidFill>
          <a:ln w="12700">
            <a:solidFill>
              <a:srgbClr val="6E95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スマホ撮影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顧問先が領収書を撮影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971800" y="384048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→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66160" y="3200400"/>
            <a:ext cx="2286000" cy="2194560"/>
          </a:xfrm>
          <a:prstGeom prst="roundRect">
            <a:avLst>
              <a:gd name="adj" fmla="val 6250"/>
            </a:avLst>
          </a:prstGeom>
          <a:solidFill>
            <a:srgbClr val="5F8320"/>
          </a:solidFill>
          <a:ln w="12700">
            <a:solidFill>
              <a:srgbClr val="6E95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56616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AI-OCR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日付・金額・取引先を自動抽出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52160" y="384048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→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46520" y="3200400"/>
            <a:ext cx="2286000" cy="2194560"/>
          </a:xfrm>
          <a:prstGeom prst="roundRect">
            <a:avLst>
              <a:gd name="adj" fmla="val 6250"/>
            </a:avLst>
          </a:prstGeom>
          <a:solidFill>
            <a:srgbClr val="5F8320"/>
          </a:solidFill>
          <a:ln w="12700">
            <a:solidFill>
              <a:srgbClr val="6E95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4652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4652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AI仕訳提案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勘定科目を自動判定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32520" y="384048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→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326880" y="3200400"/>
            <a:ext cx="2286000" cy="2194560"/>
          </a:xfrm>
          <a:prstGeom prst="roundRect">
            <a:avLst>
              <a:gd name="adj" fmla="val 6250"/>
            </a:avLst>
          </a:prstGeom>
          <a:solidFill>
            <a:srgbClr val="5F8320"/>
          </a:solidFill>
          <a:ln w="12700">
            <a:solidFill>
              <a:srgbClr val="6E95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32688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32688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ワンクリック承認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2688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税理士が確認・承認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99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機 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</a:t>
            </a:r>
            <a:r>
              <a:rPr lang="en-US" sz="3200" b="1" dirty="0">
                <a:solidFill>
                  <a:srgbClr val="6C99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経理業務</a:t>
            </a: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を根本から変える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91840" cy="3291840"/>
          </a:xfrm>
          <a:prstGeom prst="roundRect">
            <a:avLst>
              <a:gd name="adj" fmla="val 4167"/>
            </a:avLst>
          </a:prstGeom>
          <a:solidFill>
            <a:srgbClr val="3D4342"/>
          </a:solidFill>
          <a:ln w="12700">
            <a:solidFill>
              <a:srgbClr val="4A50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05840" y="228600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書類の画像</a:t>
            </a:r>
            <a:r>
              <a:rPr lang="en-US" sz="16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749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レシート・領収書・請求書を画像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 err="1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またはPDFでアップロード</a:t>
            </a:r>
            <a:r>
              <a:rPr lang="ja-JP" alt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すると、</a:t>
            </a:r>
            <a:r>
              <a:rPr lang="en-US" sz="1100" dirty="0" err="1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日付、金額、取引先名、税率、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 err="1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明細を自動で抽出</a:t>
            </a: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291840" cy="3291840"/>
          </a:xfrm>
          <a:prstGeom prst="roundRect">
            <a:avLst>
              <a:gd name="adj" fmla="val 4167"/>
            </a:avLst>
          </a:prstGeom>
          <a:solidFill>
            <a:srgbClr val="3D4342"/>
          </a:solidFill>
          <a:ln w="12700">
            <a:solidFill>
              <a:srgbClr val="4A50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663440" y="228600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AI仕訳自動生成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749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altLang="ja-JP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</a:t>
            </a:r>
            <a:r>
              <a:rPr lang="ja-JP" alt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</a:t>
            </a:r>
            <a:r>
              <a:rPr lang="en-US" sz="1100" dirty="0" err="1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結果と顧問先の勘定科目体系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</a:t>
            </a:r>
            <a:r>
              <a:rPr lang="ja-JP" alt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</a:t>
            </a:r>
            <a:r>
              <a:rPr lang="en-US" sz="1100" dirty="0" err="1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AIに渡し、最適な勘定科目を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 err="1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自動判定</a:t>
            </a: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 err="1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税理士はワンクリックで仕訳を承認</a:t>
            </a: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291840" cy="3291840"/>
          </a:xfrm>
          <a:prstGeom prst="roundRect">
            <a:avLst>
              <a:gd name="adj" fmla="val 4167"/>
            </a:avLst>
          </a:prstGeom>
          <a:solidFill>
            <a:srgbClr val="3D4342"/>
          </a:solidFill>
          <a:ln w="12700">
            <a:solidFill>
              <a:srgbClr val="4A50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321040" y="228600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3210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2104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銀行明細AI照合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749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銀行取引ごとにAIが勘定科目を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推定し、信頼度パーセンテージを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 err="1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</a:t>
            </a: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 err="1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ワンクリックで承認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" y="5577840"/>
            <a:ext cx="10725912" cy="822960"/>
          </a:xfrm>
          <a:prstGeom prst="rect">
            <a:avLst/>
          </a:prstGeom>
          <a:solidFill>
            <a:srgbClr val="66911B">
              <a:alpha val="15000"/>
            </a:srgbClr>
          </a:solidFill>
          <a:ln w="12700">
            <a:solidFill>
              <a:srgbClr val="66911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5577840"/>
            <a:ext cx="54864" cy="822960"/>
          </a:xfrm>
          <a:prstGeom prst="rect">
            <a:avLst/>
          </a:prstGeom>
          <a:solidFill>
            <a:srgbClr val="66911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005840" y="55778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Meiryo" pitchFamily="34" charset="0"/>
                <a:ea typeface="Meiryo" pitchFamily="34" charset="-122"/>
                <a:cs typeface="Meiryo" pitchFamily="34" charset="-120"/>
              </a:rPr>
              <a:t>💡 外貨取引にも自動対応 ── 外貨レシートを自動検知し、リアルタイム為替レートを取得。円換算額と為替レートを摘要に自動記載。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71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顧問先ポータル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顧問先は</a:t>
            </a:r>
            <a:r>
              <a:rPr lang="en-US" sz="3200" b="1" dirty="0">
                <a:solidFill>
                  <a:srgbClr val="5271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スマホだけ</a:t>
            </a:r>
            <a:r>
              <a:rPr lang="en-US" sz="3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アプリのインストール不要。ブラウザで事務所専用URLに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アクセスするだけで、すべての機能が使えます。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788920"/>
            <a:ext cx="320040" cy="320040"/>
          </a:xfrm>
          <a:prstGeom prst="ellipse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2761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7432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スマホカメラで領収書をその場で撮影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320040" cy="320040"/>
          </a:xfrm>
          <a:prstGeom prst="ellipse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14400" y="3264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32461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アップロード履歴とステータスを即確認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794760"/>
            <a:ext cx="320040" cy="320040"/>
          </a:xfrm>
          <a:prstGeom prst="ellipse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67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37490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税理士への質問をチャット形式で送信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297680"/>
            <a:ext cx="320040" cy="320040"/>
          </a:xfrm>
          <a:prstGeom prst="ellipse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14400" y="4270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42519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請求書の閲覧とPDFダウンロード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800600"/>
            <a:ext cx="320040" cy="320040"/>
          </a:xfrm>
          <a:prstGeom prst="ellipse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14400" y="4773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4754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ドラッグ＆ドロップでPC対応も万全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0" y="731520"/>
            <a:ext cx="3200400" cy="5486400"/>
          </a:xfrm>
          <a:prstGeom prst="roundRect">
            <a:avLst>
              <a:gd name="adj" fmla="val 10000"/>
            </a:avLst>
          </a:prstGeom>
          <a:solidFill>
            <a:srgbClr val="323736"/>
          </a:solidFill>
          <a:ln w="25400">
            <a:solidFill>
              <a:srgbClr val="555555"/>
            </a:solidFill>
            <a:prstDash val="solid"/>
          </a:ln>
          <a:effectLst>
            <a:outerShdw blurRad="203200" dist="76200" dir="162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772400" y="868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Raqto会計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1371600"/>
            <a:ext cx="2834640" cy="41148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13816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アップロード履歴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92440" y="19202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スターバックス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0" y="19933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271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仕訳済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229600" y="22585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2026/02/25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601200" y="22585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¥680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092440" y="269748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822960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Amazon.co.jp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01200" y="27706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OCR完了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229600" y="30358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2026/02/24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01200" y="30358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¥12,980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92440" y="34747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8229600" y="3520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JR東日本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0" y="35478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処理中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229600" y="38130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2026/02/23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601200" y="38130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¥3,200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092440" y="42519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8229600" y="4297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ヤマダ電機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01200" y="432511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271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仕訳済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229600" y="45902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2026/02/22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601200" y="45902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¥54,780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955280" y="5532120"/>
            <a:ext cx="28346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8001000" y="5559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📷 撮影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549640" y="5559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271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履歴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9098280" y="5559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💬 質問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9646920" y="5559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📄 請求書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0195560" y="55595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⚙ 設定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992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銀 行 連 携</a:t>
            </a:r>
            <a:endParaRPr 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6C992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2,500+</a:t>
            </a:r>
            <a:r>
              <a:rPr lang="en-US" sz="32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の金融機関と自動連携</a:t>
            </a:r>
            <a:endParaRPr lang="en-US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Moneytree LINK・マネーフォワード・Zaimの3つの口座アグリゲーション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サービスに対応。銀行明細を自動取得し、AI照合で仕訳を効率化。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5029200" cy="3291840"/>
          </a:xfrm>
          <a:prstGeom prst="roundRect">
            <a:avLst>
              <a:gd name="adj" fmla="val 4167"/>
            </a:avLst>
          </a:prstGeom>
          <a:solidFill>
            <a:srgbClr val="3D4342"/>
          </a:solidFill>
          <a:ln w="12700">
            <a:solidFill>
              <a:srgbClr val="4A50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対応アグリゲーション</a:t>
            </a: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7280" y="35661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Moneytree LINK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20240" y="3840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2,500+金融機関対応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97280" y="4389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4E4D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マネーフォワード クラウド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20240" y="4663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主要銀行対応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97280" y="5212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6911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09728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Zaim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20240" y="5486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家計簿連携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2743200"/>
            <a:ext cx="5212080" cy="3291840"/>
          </a:xfrm>
          <a:prstGeom prst="roundRect">
            <a:avLst>
              <a:gd name="adj" fmla="val 4167"/>
            </a:avLst>
          </a:prstGeom>
          <a:solidFill>
            <a:srgbClr val="3D4342"/>
          </a:solidFill>
          <a:ln w="12700">
            <a:solidFill>
              <a:srgbClr val="4A50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58368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主な機能</a:t>
            </a: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0" y="3611880"/>
            <a:ext cx="274320" cy="274320"/>
          </a:xfrm>
          <a:prstGeom prst="ellipse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583680" y="3584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95160" y="3538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銀行明細の自動取得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0" y="4114800"/>
            <a:ext cx="274320" cy="274320"/>
          </a:xfrm>
          <a:prstGeom prst="ellipse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583680" y="4087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4059003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AIによる勘定科目推定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0" y="4617720"/>
            <a:ext cx="274320" cy="274320"/>
          </a:xfrm>
          <a:prstGeom prst="ellipse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583680" y="4590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4561923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CSV一括インポート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83680" y="5120640"/>
            <a:ext cx="274320" cy="274320"/>
          </a:xfrm>
          <a:prstGeom prst="ellipse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583680" y="5093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5064843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口座別フィルター表示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83680" y="5623560"/>
            <a:ext cx="274320" cy="274320"/>
          </a:xfrm>
          <a:prstGeom prst="ellipse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583680" y="5596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5567763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同期間隔の柔軟設定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71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 計 機 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本格的な</a:t>
            </a:r>
            <a:r>
              <a:rPr lang="en-US" sz="3200" b="1" dirty="0">
                <a:solidFill>
                  <a:srgbClr val="5271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会計機能</a:t>
            </a:r>
            <a:r>
              <a:rPr lang="en-US" sz="3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をフル装備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146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6012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27120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財務諸表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残高試算表・B/S・P/L・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月次推移表を自動生成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2011680"/>
            <a:ext cx="25146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79476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27120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7947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9476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帳簿 6種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3246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仕訳帳〜買掛帳まで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CSV出力対応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25146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62940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27120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6294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固定資産管理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3246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定額法・定率法の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減価償却を自動計算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35440" y="2011680"/>
            <a:ext cx="25146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9464040" y="2240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27120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4640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6404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決算処理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64040" y="3246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4ステップワークフロー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年度ロック機能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25146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960120" y="4526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27120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96012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" y="5212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消費税計算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532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本則・簡易課税対応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インボイス経過措置内蔵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66160" y="4297680"/>
            <a:ext cx="25146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3794760" y="4526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27120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79476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794760" y="5212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入金消込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94760" y="5532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自動マッチング提案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消込履歴を完全記録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4297680"/>
            <a:ext cx="25146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6629400" y="4526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27120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62940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29400" y="5212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請求書管理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29400" y="5532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Raqto受発注から自動取込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支払期限アラート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235440" y="4297680"/>
            <a:ext cx="25146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9464040" y="45262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527120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946404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464040" y="5212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取引先管理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464040" y="5532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インボイス登録番号管理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適格事業者を一目で確認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99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6C99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3つの画面</a:t>
            </a: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で全員の業務を最適化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3D4342"/>
          </a:solidFill>
          <a:ln w="12700">
            <a:solidFill>
              <a:srgbClr val="4A50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05840" y="228600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税理士</a:t>
            </a:r>
            <a:r>
              <a:rPr lang="en-US" sz="15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全事務所の顧問先数を俯瞰。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新規事務所の追加もワンクリック。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3D4342"/>
          </a:solidFill>
          <a:ln w="12700">
            <a:solidFill>
              <a:srgbClr val="4A50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663440" y="228600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税理士</a:t>
            </a:r>
            <a:r>
              <a:rPr lang="en-US" sz="15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</a:t>
            </a:r>
            <a:r>
              <a:rPr lang="ja-JP" alt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</a:t>
            </a:r>
            <a:endParaRPr lang="en-US" sz="1500" b="1" dirty="0">
              <a:solidFill>
                <a:srgbClr val="FFFFFF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顧問先ごとの進捗バーで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「順調」「確認待ち」「要対応」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を一目で把握。ウィジェット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カスタマイズ可能。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3D4342"/>
          </a:solidFill>
          <a:ln w="12700">
            <a:solidFill>
              <a:srgbClr val="4A50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321040" y="228600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3210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顧問先ダッシュボード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未確認領収書・AI仕訳確認待ち・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未回答質問をカード表示。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次にやることが一目瞭然。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" y="5303520"/>
            <a:ext cx="10725912" cy="822960"/>
          </a:xfrm>
          <a:prstGeom prst="rect">
            <a:avLst/>
          </a:prstGeom>
          <a:solidFill>
            <a:srgbClr val="66911B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5303520"/>
            <a:ext cx="54864" cy="822960"/>
          </a:xfrm>
          <a:prstGeom prst="rect">
            <a:avLst/>
          </a:prstGeom>
          <a:solidFill>
            <a:srgbClr val="66911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005840" y="53035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Meiryo" pitchFamily="34" charset="0"/>
                <a:ea typeface="Meiryo" pitchFamily="34" charset="-122"/>
                <a:cs typeface="Meiryo" pitchFamily="34" charset="-120"/>
              </a:rPr>
              <a:t>🧩 ウィジェットで自分好みに ── 税務カレンダー / 口座残高サマリー / 請求書ステータス / AI仕訳レビュー の4種類から選んで配置。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Raqto 連 携</a:t>
            </a:r>
            <a:endParaRPr 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8229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Raqto受発注</a:t>
            </a:r>
            <a:r>
              <a:rPr lang="en-US" sz="3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との完全連携</a:t>
            </a:r>
            <a:endParaRPr lang="en-US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28800" y="182880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Raqto受発注システムとワンクリックで連携。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受注データ・取引先情報・請求書を自動取込し、二重入力を完全に排除。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10018" y="3017520"/>
            <a:ext cx="29260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310018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10018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受発注</a:t>
            </a:r>
            <a:r>
              <a:rPr lang="ja-JP" altLang="en-US" sz="14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システム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10018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受注・発注管理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36098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7120"/>
                </a:solidFill>
              </a:rPr>
              <a:t>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784738" y="3017520"/>
            <a:ext cx="29260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84738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84738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自動同期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84738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受発注システムと</a:t>
            </a:r>
            <a:r>
              <a:rPr lang="en-US" sz="1000" dirty="0" err="1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紐付け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10818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7120"/>
                </a:solidFill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59458" y="3017520"/>
            <a:ext cx="29260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259458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59458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Raqto会計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59458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仕訳・会計処理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95681" y="5212080"/>
            <a:ext cx="879746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取引先</a:t>
            </a:r>
            <a:r>
              <a:rPr lang="ja-JP" altLang="en-US" sz="24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・請求書・発注書などを自動で取り込み、</a:t>
            </a:r>
            <a:br>
              <a:rPr lang="en-US" altLang="ja-JP" sz="24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</a:br>
            <a:r>
              <a:rPr lang="en-US" altLang="ja-JP" sz="24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AI</a:t>
            </a:r>
            <a:r>
              <a:rPr lang="ja-JP" altLang="en-US" sz="24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で内容を解析し完全連携が可能！</a:t>
            </a:r>
            <a:endParaRPr 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21992" y="5669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従来のやり方 vs </a:t>
            </a:r>
            <a:r>
              <a:rPr lang="en-US" sz="32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Raqto</a:t>
            </a:r>
            <a:r>
              <a:rPr lang="en-US" sz="3200" b="1" dirty="0">
                <a:solidFill>
                  <a:srgbClr val="5271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474720" cy="530352"/>
          </a:xfrm>
          <a:prstGeom prst="rect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業務</a:t>
            </a:r>
            <a:endParaRPr 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06240" y="1920240"/>
            <a:ext cx="3474720" cy="530352"/>
          </a:xfrm>
          <a:prstGeom prst="rect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343400" y="19202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従来の方法</a:t>
            </a:r>
            <a:endParaRPr 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80960" y="1920240"/>
            <a:ext cx="3776472" cy="530352"/>
          </a:xfrm>
          <a:prstGeom prst="rect">
            <a:avLst/>
          </a:prstGeom>
          <a:solidFill>
            <a:srgbClr val="5271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818120" y="1920240"/>
            <a:ext cx="3502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Raqto会計（AI）</a:t>
            </a:r>
            <a:endParaRPr 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3474720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68680" y="24871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領収書の入力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06240" y="2487168"/>
            <a:ext cx="3474720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343400" y="24871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手入力（1枚あたり2〜3分）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80960" y="2487168"/>
            <a:ext cx="3776472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818120" y="2487168"/>
            <a:ext cx="3502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📸 撮影 → AIが自動入力（数秒）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3054096"/>
            <a:ext cx="3474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68680" y="305409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仕訳の作成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06240" y="3054096"/>
            <a:ext cx="3474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343400" y="305409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勘定科目を手動判断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80960" y="3054096"/>
            <a:ext cx="3776472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818120" y="3054096"/>
            <a:ext cx="3502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🧠 AIが科目を自動提案 → 承認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1520" y="3621024"/>
            <a:ext cx="3474720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68680" y="36210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銀行明細の処理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06240" y="3621024"/>
            <a:ext cx="3474720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343400" y="36210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CSV → 手動照合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680960" y="3621024"/>
            <a:ext cx="3776472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818120" y="3621024"/>
            <a:ext cx="3502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🏦 自動取得 → AI照合 → ワンクリック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31520" y="4187952"/>
            <a:ext cx="3474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868680" y="418795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顧問先への確認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06240" y="4187952"/>
            <a:ext cx="3474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343400" y="418795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メール・電話・FAXで都度連絡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680960" y="4187952"/>
            <a:ext cx="3776472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7818120" y="4187952"/>
            <a:ext cx="3502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💬 ポータル内チャットで一元管理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1520" y="4754880"/>
            <a:ext cx="3474720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868680" y="475488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領収書の受け渡し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06240" y="4754880"/>
            <a:ext cx="3474720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343400" y="475488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月1回まとめて郵送 or 持参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680960" y="4754880"/>
            <a:ext cx="3776472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7818120" y="4754880"/>
            <a:ext cx="3502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📱 発生都度スマホで撮影・即送信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31520" y="5321808"/>
            <a:ext cx="3474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868680" y="532180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インボイス確認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206240" y="5321808"/>
            <a:ext cx="347472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4343400" y="532180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手動で登録番号を確認・記録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680960" y="5321808"/>
            <a:ext cx="3776472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7818120" y="5321808"/>
            <a:ext cx="3502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✅ 登録番号から自動判定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520" y="5888736"/>
            <a:ext cx="3474720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868680" y="58887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受発注データ連携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206240" y="5888736"/>
            <a:ext cx="3474720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4343400" y="58887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別システムから手動で転記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680960" y="5888736"/>
            <a:ext cx="3776472" cy="530352"/>
          </a:xfrm>
          <a:prstGeom prst="rect">
            <a:avLst/>
          </a:prstGeom>
          <a:solidFill>
            <a:srgbClr val="F0ED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7818120" y="5888736"/>
            <a:ext cx="3502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7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" pitchFamily="34" charset="-120"/>
              </a:rPr>
              <a:t>🔗 Raqto受発注から自動取込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541</Words>
  <Application>Microsoft Office PowerPoint</Application>
  <PresentationFormat>ユーザー設定</PresentationFormat>
  <Paragraphs>225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BIZ UDPゴシック</vt:lpstr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Raqto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Raqto会計（AIバージョン）- 営業資料</dc:title>
  <dc:subject>Raqto会計（AIバージョン）営業資料</dc:subject>
  <dc:creator>Raqto会計</dc:creator>
  <cp:lastModifiedBy>Lotus</cp:lastModifiedBy>
  <cp:revision>19</cp:revision>
  <dcterms:created xsi:type="dcterms:W3CDTF">2026-02-28T04:24:27Z</dcterms:created>
  <dcterms:modified xsi:type="dcterms:W3CDTF">2026-02-28T06:05:27Z</dcterms:modified>
</cp:coreProperties>
</file>